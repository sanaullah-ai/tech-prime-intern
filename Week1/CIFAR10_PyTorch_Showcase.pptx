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8888A0"/>
            </a:solidFill>
            <a:ln w="31750" cap="flat">
              <a:solidFill>
                <a:srgbClr val="8888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888A0"/>
              </a:solidFill>
              <a:ln w="9525" cap="flat">
                <a:solidFill>
                  <a:srgbClr val="8888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44.48</c:v>
                </c:pt>
                <c:pt idx="1">
                  <c:v>57.47</c:v>
                </c:pt>
                <c:pt idx="2">
                  <c:v>62.35</c:v>
                </c:pt>
                <c:pt idx="3">
                  <c:v>64.94</c:v>
                </c:pt>
                <c:pt idx="4">
                  <c:v>67.61</c:v>
                </c:pt>
                <c:pt idx="5">
                  <c:v>69.07</c:v>
                </c:pt>
                <c:pt idx="6">
                  <c:v>70.38</c:v>
                </c:pt>
                <c:pt idx="7">
                  <c:v>71.67</c:v>
                </c:pt>
                <c:pt idx="8">
                  <c:v>72.58</c:v>
                </c:pt>
                <c:pt idx="9">
                  <c:v>73.49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EE4C2C"/>
            </a:solidFill>
            <a:ln w="31750" cap="flat">
              <a:solidFill>
                <a:srgbClr val="EE4C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E4C2C"/>
              </a:solidFill>
              <a:ln w="9525" cap="flat">
                <a:solidFill>
                  <a:srgbClr val="EE4C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57.38</c:v>
                </c:pt>
                <c:pt idx="1">
                  <c:v>67.16</c:v>
                </c:pt>
                <c:pt idx="2">
                  <c:v>69.77</c:v>
                </c:pt>
                <c:pt idx="3">
                  <c:v>71.75</c:v>
                </c:pt>
                <c:pt idx="4">
                  <c:v>74.4</c:v>
                </c:pt>
                <c:pt idx="5">
                  <c:v>75.29</c:v>
                </c:pt>
                <c:pt idx="6">
                  <c:v>75.92</c:v>
                </c:pt>
                <c:pt idx="7">
                  <c:v>75.15</c:v>
                </c:pt>
                <c:pt idx="8">
                  <c:v>76.58</c:v>
                </c:pt>
                <c:pt idx="9">
                  <c:v>76.51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3EC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888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40"/>
        </c:scaling>
        <c:delete val="0"/>
        <c:axPos val="l"/>
        <c:majorGridlines>
          <c:spPr>
            <a:ln w="12700" cap="flat">
              <a:solidFill>
                <a:srgbClr val="E3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888A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888A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888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3D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EE4C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Ship</c:v>
                  </c:pt>
                  <c:pt idx="1">
                    <c:v>Truck</c:v>
                  </c:pt>
                  <c:pt idx="2">
                    <c:v>Frog</c:v>
                  </c:pt>
                  <c:pt idx="3">
                    <c:v>Automobile</c:v>
                  </c:pt>
                  <c:pt idx="4">
                    <c:v>Horse</c:v>
                  </c:pt>
                  <c:pt idx="5">
                    <c:v>Airplane</c:v>
                  </c:pt>
                  <c:pt idx="6">
                    <c:v>Deer</c:v>
                  </c:pt>
                  <c:pt idx="7">
                    <c:v>Cat</c:v>
                  </c:pt>
                  <c:pt idx="8">
                    <c:v>Bird</c:v>
                  </c:pt>
                  <c:pt idx="9">
                    <c:v>Dog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91.1</c:v>
                </c:pt>
                <c:pt idx="1">
                  <c:v>90.8</c:v>
                </c:pt>
                <c:pt idx="2">
                  <c:v>90.1</c:v>
                </c:pt>
                <c:pt idx="3">
                  <c:v>84.2</c:v>
                </c:pt>
                <c:pt idx="4">
                  <c:v>78.4</c:v>
                </c:pt>
                <c:pt idx="5">
                  <c:v>73.5</c:v>
                </c:pt>
                <c:pt idx="6">
                  <c:v>68.5</c:v>
                </c:pt>
                <c:pt idx="7">
                  <c:v>67.7</c:v>
                </c:pt>
                <c:pt idx="8">
                  <c:v>66.5</c:v>
                </c:pt>
                <c:pt idx="9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3EC"/>
            </a:solidFill>
            <a:prstDash val="solid"/>
            <a:round/>
          </a:ln>
        </c:spPr>
        <c:txPr>
          <a:bodyPr rot="1800000"/>
          <a:lstStyle/>
          <a:p>
            <a:pPr>
              <a:defRPr sz="1000" b="0" i="0" u="none" strike="noStrike">
                <a:solidFill>
                  <a:srgbClr val="3D3D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3E3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888A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888A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88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EE4C2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463040"/>
            <a:ext cx="2194560" cy="2194560"/>
          </a:xfrm>
          <a:prstGeom prst="ellipse">
            <a:avLst/>
          </a:prstGeom>
          <a:solidFill>
            <a:srgbClr val="EE4C2C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4389120"/>
            <a:ext cx="1188720" cy="1188720"/>
          </a:xfrm>
          <a:prstGeom prst="ellipse">
            <a:avLst/>
          </a:prstGeom>
          <a:solidFill>
            <a:srgbClr val="EE4C2C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/ ML INTERNSHIP  ·  WEEK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CIFAR-10 Image Classifier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PyTorch Fundamentals to a Trained Convolutional Neural Network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502920" cy="54864"/>
          </a:xfrm>
          <a:prstGeom prst="rect">
            <a:avLst/>
          </a:prstGeom>
          <a:solidFill>
            <a:srgbClr val="EE4C2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Prime Pvt Limited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AI/ML Internship Program  —  Week 1 Showcase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PyTorch?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machine learning framework, built by Meta AI, for defining and training neural networks with native Python syntax.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029200" cy="1691640"/>
          </a:xfrm>
          <a:prstGeom prst="roundRect">
            <a:avLst>
              <a:gd name="adj" fmla="val 6486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ANALOGY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PyTorch as LEGO blocks for AI — each block is a building component (a layer, a function), and you connect them to construct complex, working systems.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417320"/>
            <a:ext cx="2628900" cy="1874520"/>
          </a:xfrm>
          <a:prstGeom prst="roundRect">
            <a:avLst>
              <a:gd name="adj" fmla="val 4878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2313432"/>
            <a:ext cx="20802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3640" y="2651760"/>
            <a:ext cx="20802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writing normal Python code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83980" y="1417320"/>
            <a:ext cx="2628900" cy="1874520"/>
          </a:xfrm>
          <a:prstGeom prst="roundRect">
            <a:avLst>
              <a:gd name="adj" fmla="val 4878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58300" y="169164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92583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58300" y="2313432"/>
            <a:ext cx="20802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58300" y="2651760"/>
            <a:ext cx="20802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debug computation on the fly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611880"/>
            <a:ext cx="2628900" cy="1874520"/>
          </a:xfrm>
          <a:prstGeom prst="roundRect">
            <a:avLst>
              <a:gd name="adj" fmla="val 4878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88620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4507992"/>
            <a:ext cx="20802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63640" y="4846320"/>
            <a:ext cx="20802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100x faster model training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83980" y="3611880"/>
            <a:ext cx="2628900" cy="1874520"/>
          </a:xfrm>
          <a:prstGeom prst="roundRect">
            <a:avLst>
              <a:gd name="adj" fmla="val 4878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8300" y="3886200"/>
            <a:ext cx="502920" cy="50292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92583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58300" y="4507992"/>
            <a:ext cx="20802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258300" y="4846320"/>
            <a:ext cx="20802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Tesla, Meta, OpenAI &amp; more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PYTORCH FUNDAMENTALS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 · 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Tensors &amp; Autograd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multi-dimensional array of numbers — the single data structure PyTorch is built 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73152" cy="384048"/>
          </a:xfrm>
          <a:prstGeom prst="rect">
            <a:avLst/>
          </a:prstGeom>
          <a:solidFill>
            <a:srgbClr val="EE4C2C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200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 · Scalar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 →  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73152" cy="384048"/>
          </a:xfrm>
          <a:prstGeom prst="rect">
            <a:avLst/>
          </a:prstGeom>
          <a:solidFill>
            <a:srgbClr val="EE4C2C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749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· Vector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3749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values  →  [1, 2, 3]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389120"/>
            <a:ext cx="73152" cy="384048"/>
          </a:xfrm>
          <a:prstGeom prst="rect">
            <a:avLst/>
          </a:prstGeom>
          <a:solidFill>
            <a:srgbClr val="EE4C2C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42976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· Matrix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4297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&amp; columns  →  a table of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937760"/>
            <a:ext cx="73152" cy="384048"/>
          </a:xfrm>
          <a:prstGeom prst="rect">
            <a:avLst/>
          </a:prstGeom>
          <a:solidFill>
            <a:srgbClr val="EE4C2C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4846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· Tensor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34640" y="4846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cube of values  →  one RGB image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486400"/>
            <a:ext cx="73152" cy="384048"/>
          </a:xfrm>
          <a:prstGeom prst="rect">
            <a:avLst/>
          </a:prstGeom>
          <a:solidFill>
            <a:srgbClr val="EE4C2C"/>
          </a:solidFill>
          <a:ln/>
        </p:spPr>
      </p:sp>
      <p:sp>
        <p:nvSpPr>
          <p:cNvPr id="23" name="Text 21"/>
          <p:cNvSpPr/>
          <p:nvPr/>
        </p:nvSpPr>
        <p:spPr>
          <a:xfrm>
            <a:off x="1078992" y="5394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· Batch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834640" y="5394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images  →  batch × H × W × channels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45352" y="146304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1A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6565392" y="1783080"/>
            <a:ext cx="502920" cy="50292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05472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Autograd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65392" y="24688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differentiation: PyTorch tracks every tensor operation and computes gradients for you.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65392" y="3429000"/>
            <a:ext cx="310896" cy="310896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3429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2592" y="3383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produces a prediction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65392" y="4050792"/>
            <a:ext cx="310896" cy="310896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34" name="Text 32"/>
          <p:cNvSpPr/>
          <p:nvPr/>
        </p:nvSpPr>
        <p:spPr>
          <a:xfrm>
            <a:off x="6565392" y="40507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22592" y="40050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compares prediction to the true label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65392" y="4672584"/>
            <a:ext cx="310896" cy="310896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46725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22592" y="46268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.backward() computes gradients automatically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565392" y="5294376"/>
            <a:ext cx="310896" cy="310896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52943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22592" y="52486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tell every weight how to improve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PYTORCH FUNDAMENTALS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 · 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Network Learns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502920" cy="50292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nn.Module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class for every network — define layers in __init__, and how data flows through them in forward().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74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502920" cy="50292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7033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wrong a prediction is. This project uses CrossEntropyLoss for 10-class classification.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874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8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503920" y="2560320"/>
            <a:ext cx="502920" cy="50292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03920" y="370332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weight to reduce the loss. This project uses Adam with a learning rate of 0.001.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PYTORCH FUNDAMENTALS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 · 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Training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32946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Preprocess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303580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transforms, batched via DataLoader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95928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3294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53712" y="208483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26700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53712" y="303580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the model to a prediction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44968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32946"/>
          </a:solidFill>
          <a:ln/>
        </p:spPr>
      </p:sp>
      <p:sp>
        <p:nvSpPr>
          <p:cNvPr id="18" name="Shape 16"/>
          <p:cNvSpPr/>
          <p:nvPr/>
        </p:nvSpPr>
        <p:spPr>
          <a:xfrm>
            <a:off x="8302752" y="208483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2752" y="267004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02752" y="303580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compared to the true label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32946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504748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4672" y="541324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computes gradients for every weight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995928" y="4846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97680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32946"/>
          </a:solidFill>
          <a:ln/>
        </p:spPr>
      </p:sp>
      <p:sp>
        <p:nvSpPr>
          <p:cNvPr id="29" name="Shape 27"/>
          <p:cNvSpPr/>
          <p:nvPr/>
        </p:nvSpPr>
        <p:spPr>
          <a:xfrm>
            <a:off x="4553712" y="446227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53712" y="504748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Step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553712" y="541324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updates weights to reduce the loss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44968" y="48463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046720" y="4206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32946"/>
          </a:solidFill>
          <a:ln/>
        </p:spPr>
      </p:sp>
      <p:sp>
        <p:nvSpPr>
          <p:cNvPr id="35" name="Shape 33"/>
          <p:cNvSpPr/>
          <p:nvPr/>
        </p:nvSpPr>
        <p:spPr>
          <a:xfrm>
            <a:off x="8302752" y="446227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36" name="Text 34"/>
          <p:cNvSpPr/>
          <p:nvPr/>
        </p:nvSpPr>
        <p:spPr>
          <a:xfrm>
            <a:off x="8302752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02752" y="5047488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302752" y="5413248"/>
            <a:ext cx="2916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loop runs on CUDA for faster training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PYTORCH FUNDAMENTALS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CIFAR-10 Classifier — Model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0876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 3 × 32 × 32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0" y="20756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76856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7685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Conv2d(3→32) · BatchNorm · ReLU · MaxPool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284378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4495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Conv2d(32→64) · BatchNorm · ReLU · MaxPool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0" y="36118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1304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Conv2d(64→128) · BatchNorm · ReLU · MaxPool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0" y="437997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8114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→ Linear(2048→256) · ReLU · Dropout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74720" y="514807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6126480" cy="566928"/>
          </a:xfrm>
          <a:prstGeom prst="roundRect">
            <a:avLst>
              <a:gd name="adj" fmla="val 12903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49240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Linear(256→10)  →  Output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95160" y="1508760"/>
            <a:ext cx="4663440" cy="1417320"/>
          </a:xfrm>
          <a:prstGeom prst="roundRect">
            <a:avLst>
              <a:gd name="adj" fmla="val 7742"/>
            </a:avLst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1737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D9D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9659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620,810</a:t>
            </a:r>
            <a:endParaRPr lang="en-US" sz="4000" dirty="0"/>
          </a:p>
        </p:txBody>
      </p:sp>
      <p:sp>
        <p:nvSpPr>
          <p:cNvPr id="25" name="Shape 23"/>
          <p:cNvSpPr/>
          <p:nvPr/>
        </p:nvSpPr>
        <p:spPr>
          <a:xfrm>
            <a:off x="6995160" y="3200400"/>
            <a:ext cx="4663440" cy="3017520"/>
          </a:xfrm>
          <a:prstGeom prst="roundRect">
            <a:avLst>
              <a:gd name="adj" fmla="val 3636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456432"/>
            <a:ext cx="25648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60052" y="3456432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0" y="3986784"/>
            <a:ext cx="4023360" cy="0"/>
          </a:xfrm>
          <a:prstGeom prst="line">
            <a:avLst/>
          </a:prstGeom>
          <a:noFill/>
          <a:ln w="12700">
            <a:solidFill>
              <a:srgbClr val="E3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096512"/>
            <a:ext cx="25648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60052" y="4096512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4626864"/>
            <a:ext cx="4023360" cy="0"/>
          </a:xfrm>
          <a:prstGeom prst="line">
            <a:avLst/>
          </a:prstGeom>
          <a:noFill/>
          <a:ln w="12700">
            <a:solidFill>
              <a:srgbClr val="E3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4736592"/>
            <a:ext cx="25648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60052" y="4736592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0" y="5266944"/>
            <a:ext cx="4023360" cy="0"/>
          </a:xfrm>
          <a:prstGeom prst="line">
            <a:avLst/>
          </a:prstGeom>
          <a:noFill/>
          <a:ln w="12700">
            <a:solidFill>
              <a:srgbClr val="E3E3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5376672"/>
            <a:ext cx="25648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560052" y="5376672"/>
            <a:ext cx="1865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PYTORCH FUNDAMENTALS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Progress Over 10 Epochs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17373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4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76.58%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366760" y="2377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Accuracy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92440" y="3081528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321868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4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2.23 min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366760" y="38587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Time (GPU)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92440" y="4562856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47000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4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366760" y="53400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D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Val. Accuracy vs. Train — Good Generalization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PYTORCH FUNDAMENTALS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· 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Accuracy &amp; Key Observations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0876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508760"/>
            <a:ext cx="3749040" cy="2148840"/>
          </a:xfrm>
          <a:prstGeom prst="roundRect">
            <a:avLst>
              <a:gd name="adj" fmla="val 5106"/>
            </a:avLst>
          </a:prstGeom>
          <a:solidFill>
            <a:srgbClr val="F7F7FA"/>
          </a:solidFill>
          <a:ln w="12700">
            <a:solidFill>
              <a:srgbClr val="E3E3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CLASSES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1838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91.1%   ·   Truck 90.8%   ·   Frog 90.1%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8388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CLASSES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18388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55.0%   ·   Bird 66.5%   ·   Cat 67.7%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18388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Rigid, boxy shapes (vehicles) classify far more reliably than animals with variable pose and texture.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09560" y="388620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183880" y="43891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finished ~3% above training accuracy — batch norm and dropout are controlling overfitting effectively across all 10 epochs.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PYTORCH FUNDAMENTALS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EE4C2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E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1: Complete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7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built, trained, and evaluated a CNN image classifier end-to-end in PyTorch.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32946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54203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31546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356616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training pipeline pushed to GitHub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0712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32946"/>
          </a:solidFill>
          <a:ln/>
        </p:spPr>
      </p:sp>
      <p:sp>
        <p:nvSpPr>
          <p:cNvPr id="13" name="Shape 11"/>
          <p:cNvSpPr/>
          <p:nvPr/>
        </p:nvSpPr>
        <p:spPr>
          <a:xfrm>
            <a:off x="3666744" y="254203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14" name="Text 12"/>
          <p:cNvSpPr/>
          <p:nvPr/>
        </p:nvSpPr>
        <p:spPr>
          <a:xfrm>
            <a:off x="3666744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66744" y="31546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66744" y="356616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findings, setup &amp;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2784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3294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28816" y="254203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19" name="Text 17"/>
          <p:cNvSpPr/>
          <p:nvPr/>
        </p:nvSpPr>
        <p:spPr>
          <a:xfrm>
            <a:off x="6528816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8816" y="31546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28816" y="356616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history and reproducible environment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34856" y="22860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232946"/>
          </a:solidFill>
          <a:ln/>
        </p:spPr>
      </p:sp>
      <p:sp>
        <p:nvSpPr>
          <p:cNvPr id="23" name="Shape 21"/>
          <p:cNvSpPr/>
          <p:nvPr/>
        </p:nvSpPr>
        <p:spPr>
          <a:xfrm>
            <a:off x="9390888" y="2542032"/>
            <a:ext cx="457200" cy="457200"/>
          </a:xfrm>
          <a:prstGeom prst="ellipse">
            <a:avLst/>
          </a:prstGeom>
          <a:solidFill>
            <a:srgbClr val="EE4C2C"/>
          </a:solidFill>
          <a:ln/>
        </p:spPr>
      </p:sp>
      <p:sp>
        <p:nvSpPr>
          <p:cNvPr id="24" name="Text 22"/>
          <p:cNvSpPr/>
          <p:nvPr/>
        </p:nvSpPr>
        <p:spPr>
          <a:xfrm>
            <a:off x="9390888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90888" y="3154680"/>
            <a:ext cx="2093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90888" y="3566160"/>
            <a:ext cx="20939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B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cifar10_best_model.pth  ·  620 KB checkpoint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4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76.58% validation accuracy on CIFAR-10, from raw tensors to a fully trained, GPU-accelerated model.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Prime Pvt Limited  ·  Advanced AI/ML Internship Program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2026-07-19T08:42:32Z</dcterms:created>
  <dcterms:modified xsi:type="dcterms:W3CDTF">2026-07-19T08:42:32Z</dcterms:modified>
</cp:coreProperties>
</file>